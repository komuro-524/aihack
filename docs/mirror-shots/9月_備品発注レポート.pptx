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anyo\source\repos\AIhack\docs\mirror-shots\2026&#24180;9&#26376;_&#20633;&#21697;&#30330;&#27880;&#38598;&#3533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[2026年9月_備品発注集計.xlsx]Sheet1!ピボットテーブル1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Sheet1!$B$3:$B$4</c:f>
              <c:strCache>
                <c:ptCount val="1"/>
                <c:pt idx="0">
                  <c:v>4月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Sheet1!$A$5:$A$13</c:f>
              <c:strCache>
                <c:ptCount val="8"/>
                <c:pt idx="0">
                  <c:v>マーケティング部</c:v>
                </c:pt>
                <c:pt idx="1">
                  <c:v>営業部</c:v>
                </c:pt>
                <c:pt idx="2">
                  <c:v>開発部</c:v>
                </c:pt>
                <c:pt idx="3">
                  <c:v>企画部</c:v>
                </c:pt>
                <c:pt idx="4">
                  <c:v>経理部</c:v>
                </c:pt>
                <c:pt idx="5">
                  <c:v>情報システム部</c:v>
                </c:pt>
                <c:pt idx="6">
                  <c:v>人事部</c:v>
                </c:pt>
                <c:pt idx="7">
                  <c:v>総務部</c:v>
                </c:pt>
              </c:strCache>
            </c:strRef>
          </c:cat>
          <c:val>
            <c:numRef>
              <c:f>Sheet1!$B$5:$B$13</c:f>
              <c:numCache>
                <c:formatCode>#,##0</c:formatCode>
                <c:ptCount val="8"/>
                <c:pt idx="0">
                  <c:v>41070</c:v>
                </c:pt>
                <c:pt idx="1">
                  <c:v>204860</c:v>
                </c:pt>
                <c:pt idx="2">
                  <c:v>64480</c:v>
                </c:pt>
                <c:pt idx="3">
                  <c:v>40720</c:v>
                </c:pt>
                <c:pt idx="4">
                  <c:v>62880</c:v>
                </c:pt>
                <c:pt idx="5">
                  <c:v>73320</c:v>
                </c:pt>
                <c:pt idx="6">
                  <c:v>19800</c:v>
                </c:pt>
                <c:pt idx="7">
                  <c:v>162500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F-4E46-8008-2C85BCFAC379}"/>
            </c:ext>
          </c:extLst>
        </c:ser>
        <c:ser>
          <c:idx val="1"/>
          <c:order val="1"/>
          <c:tx>
            <c:strRef>
              <c:f>Sheet1!$C$3:$C$4</c:f>
              <c:strCache>
                <c:ptCount val="1"/>
                <c:pt idx="0">
                  <c:v>5月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Sheet1!$A$5:$A$13</c:f>
              <c:strCache>
                <c:ptCount val="8"/>
                <c:pt idx="0">
                  <c:v>マーケティング部</c:v>
                </c:pt>
                <c:pt idx="1">
                  <c:v>営業部</c:v>
                </c:pt>
                <c:pt idx="2">
                  <c:v>開発部</c:v>
                </c:pt>
                <c:pt idx="3">
                  <c:v>企画部</c:v>
                </c:pt>
                <c:pt idx="4">
                  <c:v>経理部</c:v>
                </c:pt>
                <c:pt idx="5">
                  <c:v>情報システム部</c:v>
                </c:pt>
                <c:pt idx="6">
                  <c:v>人事部</c:v>
                </c:pt>
                <c:pt idx="7">
                  <c:v>総務部</c:v>
                </c:pt>
              </c:strCache>
            </c:strRef>
          </c:cat>
          <c:val>
            <c:numRef>
              <c:f>Sheet1!$C$5:$C$13</c:f>
              <c:numCache>
                <c:formatCode>#,##0</c:formatCode>
                <c:ptCount val="8"/>
                <c:pt idx="0">
                  <c:v>133980</c:v>
                </c:pt>
                <c:pt idx="1">
                  <c:v>82880</c:v>
                </c:pt>
                <c:pt idx="2">
                  <c:v>214400</c:v>
                </c:pt>
                <c:pt idx="3">
                  <c:v>26520</c:v>
                </c:pt>
                <c:pt idx="4">
                  <c:v>9360</c:v>
                </c:pt>
                <c:pt idx="5">
                  <c:v>68580</c:v>
                </c:pt>
                <c:pt idx="6">
                  <c:v>67280</c:v>
                </c:pt>
                <c:pt idx="7">
                  <c:v>78000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8F-4E46-8008-2C85BCFAC379}"/>
            </c:ext>
          </c:extLst>
        </c:ser>
        <c:ser>
          <c:idx val="2"/>
          <c:order val="2"/>
          <c:tx>
            <c:strRef>
              <c:f>Sheet1!$D$3:$D$4</c:f>
              <c:strCache>
                <c:ptCount val="1"/>
                <c:pt idx="0">
                  <c:v>6月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Sheet1!$A$5:$A$13</c:f>
              <c:strCache>
                <c:ptCount val="8"/>
                <c:pt idx="0">
                  <c:v>マーケティング部</c:v>
                </c:pt>
                <c:pt idx="1">
                  <c:v>営業部</c:v>
                </c:pt>
                <c:pt idx="2">
                  <c:v>開発部</c:v>
                </c:pt>
                <c:pt idx="3">
                  <c:v>企画部</c:v>
                </c:pt>
                <c:pt idx="4">
                  <c:v>経理部</c:v>
                </c:pt>
                <c:pt idx="5">
                  <c:v>情報システム部</c:v>
                </c:pt>
                <c:pt idx="6">
                  <c:v>人事部</c:v>
                </c:pt>
                <c:pt idx="7">
                  <c:v>総務部</c:v>
                </c:pt>
              </c:strCache>
            </c:strRef>
          </c:cat>
          <c:val>
            <c:numRef>
              <c:f>Sheet1!$D$5:$D$13</c:f>
              <c:numCache>
                <c:formatCode>#,##0</c:formatCode>
                <c:ptCount val="8"/>
                <c:pt idx="0">
                  <c:v>16590</c:v>
                </c:pt>
                <c:pt idx="1">
                  <c:v>126200</c:v>
                </c:pt>
                <c:pt idx="2">
                  <c:v>129720</c:v>
                </c:pt>
                <c:pt idx="3">
                  <c:v>420</c:v>
                </c:pt>
                <c:pt idx="4">
                  <c:v>135100</c:v>
                </c:pt>
                <c:pt idx="5">
                  <c:v>16920</c:v>
                </c:pt>
                <c:pt idx="6">
                  <c:v>17080</c:v>
                </c:pt>
                <c:pt idx="7">
                  <c:v>62860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8F-4E46-8008-2C85BCFAC379}"/>
            </c:ext>
          </c:extLst>
        </c:ser>
        <c:ser>
          <c:idx val="3"/>
          <c:order val="3"/>
          <c:tx>
            <c:strRef>
              <c:f>Sheet1!$E$3:$E$4</c:f>
              <c:strCache>
                <c:ptCount val="1"/>
                <c:pt idx="0">
                  <c:v>7月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Sheet1!$A$5:$A$13</c:f>
              <c:strCache>
                <c:ptCount val="8"/>
                <c:pt idx="0">
                  <c:v>マーケティング部</c:v>
                </c:pt>
                <c:pt idx="1">
                  <c:v>営業部</c:v>
                </c:pt>
                <c:pt idx="2">
                  <c:v>開発部</c:v>
                </c:pt>
                <c:pt idx="3">
                  <c:v>企画部</c:v>
                </c:pt>
                <c:pt idx="4">
                  <c:v>経理部</c:v>
                </c:pt>
                <c:pt idx="5">
                  <c:v>情報システム部</c:v>
                </c:pt>
                <c:pt idx="6">
                  <c:v>人事部</c:v>
                </c:pt>
                <c:pt idx="7">
                  <c:v>総務部</c:v>
                </c:pt>
              </c:strCache>
            </c:strRef>
          </c:cat>
          <c:val>
            <c:numRef>
              <c:f>Sheet1!$E$5:$E$13</c:f>
              <c:numCache>
                <c:formatCode>#,##0</c:formatCode>
                <c:ptCount val="8"/>
                <c:pt idx="0">
                  <c:v>24600</c:v>
                </c:pt>
                <c:pt idx="1">
                  <c:v>155210</c:v>
                </c:pt>
                <c:pt idx="2">
                  <c:v>180210</c:v>
                </c:pt>
                <c:pt idx="3">
                  <c:v>21300</c:v>
                </c:pt>
                <c:pt idx="4">
                  <c:v>39040</c:v>
                </c:pt>
                <c:pt idx="5">
                  <c:v>52840</c:v>
                </c:pt>
                <c:pt idx="6">
                  <c:v>65820</c:v>
                </c:pt>
                <c:pt idx="7">
                  <c:v>87870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C8F-4E46-8008-2C85BCFAC379}"/>
            </c:ext>
          </c:extLst>
        </c:ser>
        <c:ser>
          <c:idx val="4"/>
          <c:order val="4"/>
          <c:tx>
            <c:strRef>
              <c:f>Sheet1!$F$3:$F$4</c:f>
              <c:strCache>
                <c:ptCount val="1"/>
                <c:pt idx="0">
                  <c:v>8月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Sheet1!$A$5:$A$13</c:f>
              <c:strCache>
                <c:ptCount val="8"/>
                <c:pt idx="0">
                  <c:v>マーケティング部</c:v>
                </c:pt>
                <c:pt idx="1">
                  <c:v>営業部</c:v>
                </c:pt>
                <c:pt idx="2">
                  <c:v>開発部</c:v>
                </c:pt>
                <c:pt idx="3">
                  <c:v>企画部</c:v>
                </c:pt>
                <c:pt idx="4">
                  <c:v>経理部</c:v>
                </c:pt>
                <c:pt idx="5">
                  <c:v>情報システム部</c:v>
                </c:pt>
                <c:pt idx="6">
                  <c:v>人事部</c:v>
                </c:pt>
                <c:pt idx="7">
                  <c:v>総務部</c:v>
                </c:pt>
              </c:strCache>
            </c:strRef>
          </c:cat>
          <c:val>
            <c:numRef>
              <c:f>Sheet1!$F$5:$F$13</c:f>
              <c:numCache>
                <c:formatCode>#,##0</c:formatCode>
                <c:ptCount val="8"/>
                <c:pt idx="0">
                  <c:v>11420</c:v>
                </c:pt>
                <c:pt idx="1">
                  <c:v>68960</c:v>
                </c:pt>
                <c:pt idx="2">
                  <c:v>131300</c:v>
                </c:pt>
                <c:pt idx="3">
                  <c:v>173890</c:v>
                </c:pt>
                <c:pt idx="4">
                  <c:v>36480</c:v>
                </c:pt>
                <c:pt idx="5">
                  <c:v>35380</c:v>
                </c:pt>
                <c:pt idx="6">
                  <c:v>4960</c:v>
                </c:pt>
                <c:pt idx="7">
                  <c:v>106340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8F-4E46-8008-2C85BCFAC379}"/>
            </c:ext>
          </c:extLst>
        </c:ser>
        <c:ser>
          <c:idx val="5"/>
          <c:order val="5"/>
          <c:tx>
            <c:strRef>
              <c:f>Sheet1!$G$3:$G$4</c:f>
              <c:strCache>
                <c:ptCount val="1"/>
                <c:pt idx="0">
                  <c:v>9月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Sheet1!$A$5:$A$13</c:f>
              <c:strCache>
                <c:ptCount val="8"/>
                <c:pt idx="0">
                  <c:v>マーケティング部</c:v>
                </c:pt>
                <c:pt idx="1">
                  <c:v>営業部</c:v>
                </c:pt>
                <c:pt idx="2">
                  <c:v>開発部</c:v>
                </c:pt>
                <c:pt idx="3">
                  <c:v>企画部</c:v>
                </c:pt>
                <c:pt idx="4">
                  <c:v>経理部</c:v>
                </c:pt>
                <c:pt idx="5">
                  <c:v>情報システム部</c:v>
                </c:pt>
                <c:pt idx="6">
                  <c:v>人事部</c:v>
                </c:pt>
                <c:pt idx="7">
                  <c:v>総務部</c:v>
                </c:pt>
              </c:strCache>
            </c:strRef>
          </c:cat>
          <c:val>
            <c:numRef>
              <c:f>Sheet1!$G$5:$G$13</c:f>
              <c:numCache>
                <c:formatCode>#,##0</c:formatCode>
                <c:ptCount val="8"/>
                <c:pt idx="0">
                  <c:v>29300</c:v>
                </c:pt>
                <c:pt idx="1">
                  <c:v>29040</c:v>
                </c:pt>
                <c:pt idx="2">
                  <c:v>12090</c:v>
                </c:pt>
                <c:pt idx="3">
                  <c:v>45760</c:v>
                </c:pt>
                <c:pt idx="4">
                  <c:v>29880</c:v>
                </c:pt>
                <c:pt idx="5">
                  <c:v>18900</c:v>
                </c:pt>
                <c:pt idx="6">
                  <c:v>80300</c:v>
                </c:pt>
                <c:pt idx="7">
                  <c:v>29880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C8F-4E46-8008-2C85BCFAC37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60701727"/>
        <c:axId val="894167087"/>
      </c:barChart>
      <c:catAx>
        <c:axId val="1060701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94167087"/>
        <c:crosses val="autoZero"/>
        <c:auto val="1"/>
        <c:lblAlgn val="ctr"/>
        <c:lblOffset val="100"/>
        <c:noMultiLvlLbl val="0"/>
      </c:catAx>
      <c:valAx>
        <c:axId val="894167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60701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814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6B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2026年9月 備品発注レポート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C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総務部　／　9月18日発注分まで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サンプル商事 様 納品分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D6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120640" cy="3566160"/>
          </a:xfrm>
          <a:prstGeom prst="rect">
            <a:avLst/>
          </a:prstGeom>
          <a:solidFill>
            <a:srgbClr val="F7F5F0"/>
          </a:solidFill>
          <a:ln w="12700">
            <a:solidFill>
              <a:srgbClr val="E7E2D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5806440" y="1097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1B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9月の発注額は 275,150円（8月 568,730円）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1B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サンプル商事分は OA機器 74,620円が最多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1B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総務部は予算比 43%。上期平均は 126%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1B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上期平均がいちばん高いのは開発部 174%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4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出典：2026年9月_備品発注集計.xlsx</a:t>
            </a:r>
            <a:endParaRPr lang="en-US" sz="900" dirty="0"/>
          </a:p>
        </p:txBody>
      </p:sp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CFB26166-AA5C-E8F0-F0B8-CED2862E5A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7253569"/>
              </p:ext>
            </p:extLst>
          </p:nvPr>
        </p:nvGraphicFramePr>
        <p:xfrm>
          <a:off x="731520" y="165401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50</Words>
  <Application>Microsoft Office PowerPoint</Application>
  <PresentationFormat>画面に合わせる (16:9)</PresentationFormat>
  <Paragraphs>10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Meiryo UI</vt:lpstr>
      <vt:lpstr>Arial</vt:lpstr>
      <vt:lpstr>Office Theme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岩田 菜月 (Natsuki Iwata)</cp:lastModifiedBy>
  <cp:revision>2</cp:revision>
  <dcterms:created xsi:type="dcterms:W3CDTF">2026-09-21T04:04:54Z</dcterms:created>
  <dcterms:modified xsi:type="dcterms:W3CDTF">2026-09-21T04:49:06Z</dcterms:modified>
</cp:coreProperties>
</file>